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64" r:id="rId3"/>
    <p:sldId id="260" r:id="rId4"/>
    <p:sldId id="256" r:id="rId5"/>
    <p:sldId id="257" r:id="rId6"/>
    <p:sldId id="258" r:id="rId7"/>
    <p:sldId id="259" r:id="rId8"/>
    <p:sldId id="262" r:id="rId9"/>
    <p:sldId id="266" r:id="rId10"/>
    <p:sldId id="261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hyperlink" Target="https://github.com/Ani-123-design/hackathon_inceptez_Ds_25" TargetMode="External"/><Relationship Id="rId2" Type="http://schemas.openxmlformats.org/officeDocument/2006/relationships/hyperlink" Target="https://github.com/Ani-123-design/Repo_Fast_API_Hackathon" TargetMode="External"/><Relationship Id="rId1" Type="http://schemas.openxmlformats.org/officeDocument/2006/relationships/hyperlink" Target="https://github.com/Ani-123-design/GoogleColabNotebook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 b="1"/>
              <a:t>PROBLEM STATEMENT</a:t>
            </a:r>
            <a:endParaRPr lang="en-IN" altLang="en-US" b="1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Manual</a:t>
            </a:r>
            <a:r>
              <a:rPr lang="en-IN" altLang="en-US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ly</a:t>
            </a:r>
            <a:r>
              <a:rPr lang="en-US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 assess</a:t>
            </a:r>
            <a:r>
              <a:rPr lang="en-IN" altLang="en-US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ing records</a:t>
            </a:r>
            <a:r>
              <a:rPr lang="en-US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 is time-consuming and prone to bias. A data-driven solution is needed to standardize the promotion decision process based on historical patterns and employee performance metrics</a:t>
            </a:r>
            <a:r>
              <a:rPr lang="en-IN" altLang="en-US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 which is why a ml model is to be constructed for predicting chances of employees getting promoted</a:t>
            </a:r>
            <a:endParaRPr lang="en-US" dirty="0"/>
          </a:p>
          <a:p>
            <a:r>
              <a:rPr lang="en-US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The HR department faces a challenge: identifying employees for promotion efficiently and objectively.</a:t>
            </a:r>
            <a:endParaRPr lang="en-US" dirty="0"/>
          </a:p>
          <a:p>
            <a:pPr marL="0" indent="0">
              <a:buNone/>
            </a:pP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867" y="72640"/>
            <a:ext cx="10515600" cy="992041"/>
          </a:xfrm>
        </p:spPr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dirty="0"/>
              <a:t>                                HR Analytics Hackathon</a:t>
            </a:r>
            <a:endParaRPr lang="en-US" dirty="0"/>
          </a:p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063626"/>
            <a:ext cx="10515600" cy="511333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sz="3200" dirty="0"/>
              <a:t>Model Performance Comparison (F1 Score)</a:t>
            </a:r>
            <a:endParaRPr lang="en-US" sz="3200" dirty="0"/>
          </a:p>
          <a:p>
            <a:r>
              <a:rPr lang="en-US" sz="1200" b="1" dirty="0">
                <a:latin typeface="Book Antiqua" panose="02040602050305030304"/>
                <a:ea typeface="+mn-lt"/>
                <a:cs typeface="+mn-lt"/>
              </a:rPr>
              <a:t>Logistic Regression(Tuned with best parameter)</a:t>
            </a:r>
            <a:r>
              <a:rPr lang="en-US" sz="1200" dirty="0">
                <a:latin typeface="Book Antiqua" panose="02040602050305030304"/>
                <a:ea typeface="+mn-lt"/>
                <a:cs typeface="+mn-lt"/>
              </a:rPr>
              <a:t>: F1 = </a:t>
            </a:r>
            <a:r>
              <a:rPr lang="en-US" sz="1200" b="1" dirty="0">
                <a:latin typeface="Book Antiqua" panose="02040602050305030304"/>
                <a:ea typeface="+mn-lt"/>
                <a:cs typeface="+mn-lt"/>
              </a:rPr>
              <a:t>0.37</a:t>
            </a:r>
            <a:endParaRPr lang="en-US" sz="1200" dirty="0">
              <a:latin typeface="Book Antiqua" panose="02040602050305030304"/>
              <a:ea typeface="+mn-lt"/>
              <a:cs typeface="+mn-lt"/>
            </a:endParaRPr>
          </a:p>
          <a:p>
            <a:r>
              <a:rPr lang="en-US" sz="1200" b="1" dirty="0">
                <a:latin typeface="Book Antiqua" panose="02040602050305030304"/>
                <a:ea typeface="+mn-lt"/>
                <a:cs typeface="+mn-lt"/>
              </a:rPr>
              <a:t>Decision Tree(Tuned with best parameter)</a:t>
            </a:r>
            <a:r>
              <a:rPr lang="en-US" sz="1200" dirty="0">
                <a:latin typeface="Book Antiqua" panose="02040602050305030304"/>
                <a:ea typeface="+mn-lt"/>
                <a:cs typeface="+mn-lt"/>
              </a:rPr>
              <a:t>: F1 = </a:t>
            </a:r>
            <a:r>
              <a:rPr lang="en-US" sz="1200" b="1" dirty="0">
                <a:latin typeface="Book Antiqua" panose="02040602050305030304"/>
                <a:ea typeface="+mn-lt"/>
                <a:cs typeface="+mn-lt"/>
              </a:rPr>
              <a:t>0.42</a:t>
            </a:r>
            <a:endParaRPr lang="en-US" sz="1200" dirty="0">
              <a:latin typeface="Book Antiqua" panose="02040602050305030304"/>
              <a:ea typeface="+mn-lt"/>
              <a:cs typeface="+mn-lt"/>
            </a:endParaRPr>
          </a:p>
          <a:p>
            <a:r>
              <a:rPr lang="en-US" sz="1200" b="1" dirty="0">
                <a:latin typeface="Book Antiqua" panose="02040602050305030304"/>
                <a:ea typeface="+mn-lt"/>
                <a:cs typeface="+mn-lt"/>
              </a:rPr>
              <a:t>Random Forest (Tuned with best parameter)</a:t>
            </a:r>
            <a:r>
              <a:rPr lang="en-US" sz="1200" dirty="0">
                <a:latin typeface="Book Antiqua" panose="02040602050305030304"/>
                <a:ea typeface="+mn-lt"/>
                <a:cs typeface="+mn-lt"/>
              </a:rPr>
              <a:t>: F1 =</a:t>
            </a:r>
            <a:r>
              <a:rPr lang="en-US" sz="1200" b="1" dirty="0">
                <a:latin typeface="Book Antiqua" panose="02040602050305030304"/>
                <a:ea typeface="+mn-lt"/>
                <a:cs typeface="+mn-lt"/>
              </a:rPr>
              <a:t>0.47</a:t>
            </a:r>
            <a:endParaRPr lang="en-US" sz="1200" dirty="0">
              <a:latin typeface="Book Antiqua" panose="02040602050305030304"/>
              <a:ea typeface="+mn-lt"/>
              <a:cs typeface="+mn-lt"/>
            </a:endParaRPr>
          </a:p>
          <a:p>
            <a:r>
              <a:rPr lang="en-US" sz="1200" b="1" dirty="0">
                <a:latin typeface="Book Antiqua" panose="02040602050305030304"/>
                <a:ea typeface="+mn-lt"/>
                <a:cs typeface="+mn-lt"/>
              </a:rPr>
              <a:t>Ada Boosting = 0.24 - Not giving best result with tuning also</a:t>
            </a:r>
            <a:endParaRPr lang="en-US" sz="1200" b="1" dirty="0">
              <a:latin typeface="Book Antiqua" panose="02040602050305030304"/>
              <a:ea typeface="+mn-lt"/>
              <a:cs typeface="+mn-lt"/>
            </a:endParaRPr>
          </a:p>
          <a:p>
            <a:r>
              <a:rPr lang="en-US" sz="1200" b="1" dirty="0">
                <a:latin typeface="Book Antiqua" panose="02040602050305030304"/>
                <a:ea typeface="+mn-lt"/>
                <a:cs typeface="+mn-lt"/>
              </a:rPr>
              <a:t>Gradient Boosting (Tuned with best parameter )</a:t>
            </a:r>
            <a:r>
              <a:rPr lang="en-US" sz="1200" dirty="0">
                <a:latin typeface="Book Antiqua" panose="02040602050305030304"/>
                <a:ea typeface="+mn-lt"/>
                <a:cs typeface="+mn-lt"/>
              </a:rPr>
              <a:t>: F1 = 0.49</a:t>
            </a:r>
            <a:endParaRPr lang="en-US" sz="1200" dirty="0">
              <a:latin typeface="Book Antiqua" panose="02040602050305030304"/>
              <a:ea typeface="+mn-lt"/>
              <a:cs typeface="+mn-lt"/>
            </a:endParaRPr>
          </a:p>
          <a:p>
            <a:r>
              <a:rPr lang="en-US" sz="1200" b="1" dirty="0">
                <a:latin typeface="Book Antiqua" panose="02040602050305030304"/>
                <a:ea typeface="+mn-lt"/>
                <a:cs typeface="+mn-lt"/>
              </a:rPr>
              <a:t>Gradient Boosting (Tuned with best parameter and probability threshold )</a:t>
            </a:r>
            <a:r>
              <a:rPr lang="en-US" sz="1200" dirty="0">
                <a:latin typeface="Book Antiqua" panose="02040602050305030304"/>
                <a:ea typeface="+mn-lt"/>
                <a:cs typeface="+mn-lt"/>
              </a:rPr>
              <a:t>: F1 = 0.51</a:t>
            </a:r>
            <a:endParaRPr lang="en-US" sz="1200" dirty="0">
              <a:latin typeface="Book Antiqua" panose="02040602050305030304"/>
              <a:ea typeface="+mn-lt"/>
              <a:cs typeface="+mn-lt"/>
            </a:endParaRPr>
          </a:p>
          <a:p>
            <a:r>
              <a:rPr lang="en-US" sz="1200" b="1" dirty="0" err="1">
                <a:latin typeface="Book Antiqua" panose="02040602050305030304"/>
                <a:ea typeface="+mn-lt"/>
                <a:cs typeface="+mn-lt"/>
              </a:rPr>
              <a:t>XGBoost</a:t>
            </a:r>
            <a:r>
              <a:rPr lang="en-US" sz="1200" b="1" dirty="0">
                <a:latin typeface="Book Antiqua" panose="02040602050305030304"/>
                <a:ea typeface="+mn-lt"/>
                <a:cs typeface="+mn-lt"/>
              </a:rPr>
              <a:t> (Tuned + best Threshold)</a:t>
            </a:r>
            <a:r>
              <a:rPr lang="en-US" sz="1200" dirty="0">
                <a:latin typeface="Book Antiqua" panose="02040602050305030304"/>
                <a:ea typeface="+mn-lt"/>
                <a:cs typeface="+mn-lt"/>
              </a:rPr>
              <a:t>: </a:t>
            </a:r>
            <a:r>
              <a:rPr lang="en-US" sz="1200" b="1" dirty="0">
                <a:latin typeface="Book Antiqua" panose="02040602050305030304"/>
                <a:ea typeface="+mn-lt"/>
                <a:cs typeface="+mn-lt"/>
              </a:rPr>
              <a:t>F1 = </a:t>
            </a:r>
            <a:r>
              <a:rPr lang="en-US" sz="1200" dirty="0">
                <a:latin typeface="Book Antiqua" panose="02040602050305030304"/>
                <a:ea typeface="+mn-lt"/>
                <a:cs typeface="+mn-lt"/>
              </a:rPr>
              <a:t>0.49</a:t>
            </a:r>
            <a:endParaRPr lang="en-US" sz="1200" dirty="0">
              <a:latin typeface="Book Antiqua" panose="02040602050305030304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400" b="1" dirty="0">
                <a:ea typeface="+mn-lt"/>
                <a:cs typeface="+mn-lt"/>
              </a:rPr>
              <a:t>Notebook Link: </a:t>
            </a:r>
            <a:r>
              <a:rPr lang="en-US" sz="1400" dirty="0">
                <a:ea typeface="+mn-lt"/>
                <a:cs typeface="+mn-lt"/>
                <a:hlinkClick r:id="rId1"/>
              </a:rPr>
              <a:t>Ani-123-design/GoogleColabNotebook</a:t>
            </a:r>
            <a:endParaRPr lang="en-US" sz="1400" b="1" dirty="0"/>
          </a:p>
          <a:p>
            <a:pPr>
              <a:buNone/>
            </a:pPr>
            <a:r>
              <a:rPr lang="en-US" sz="1800" b="1" dirty="0">
                <a:ea typeface="+mn-lt"/>
                <a:cs typeface="+mn-lt"/>
              </a:rPr>
              <a:t>Gradient Boosting achieved the highest F1 score among all evaluated models and </a:t>
            </a:r>
            <a:r>
              <a:rPr lang="en-US" sz="1800" b="1" dirty="0" err="1">
                <a:ea typeface="+mn-lt"/>
                <a:cs typeface="+mn-lt"/>
              </a:rPr>
              <a:t>perfomed</a:t>
            </a:r>
            <a:r>
              <a:rPr lang="en-US" sz="1800" b="1" dirty="0">
                <a:ea typeface="+mn-lt"/>
                <a:cs typeface="+mn-lt"/>
              </a:rPr>
              <a:t> well on training and test data without any overfitting</a:t>
            </a:r>
            <a:endParaRPr lang="en-US" sz="1800" dirty="0">
              <a:ea typeface="+mn-lt"/>
              <a:cs typeface="+mn-lt"/>
            </a:endParaRPr>
          </a:p>
          <a:p>
            <a:pPr>
              <a:buNone/>
            </a:pPr>
            <a:r>
              <a:rPr lang="en-US" sz="1800" dirty="0">
                <a:ea typeface="+mn-lt"/>
                <a:cs typeface="+mn-lt"/>
              </a:rPr>
              <a:t>Final </a:t>
            </a:r>
            <a:r>
              <a:rPr lang="en-US" sz="1800" dirty="0" err="1">
                <a:ea typeface="+mn-lt"/>
                <a:cs typeface="+mn-lt"/>
              </a:rPr>
              <a:t>GradientBoost</a:t>
            </a:r>
            <a:r>
              <a:rPr lang="en-US" sz="1800" dirty="0">
                <a:ea typeface="+mn-lt"/>
                <a:cs typeface="+mn-lt"/>
              </a:rPr>
              <a:t> model was </a:t>
            </a:r>
            <a:r>
              <a:rPr lang="en-US" sz="1800" b="1" dirty="0">
                <a:ea typeface="+mn-lt"/>
                <a:cs typeface="+mn-lt"/>
              </a:rPr>
              <a:t>pickled and deployed</a:t>
            </a:r>
            <a:r>
              <a:rPr lang="en-US" sz="1800" dirty="0">
                <a:ea typeface="+mn-lt"/>
                <a:cs typeface="+mn-lt"/>
              </a:rPr>
              <a:t> via:</a:t>
            </a:r>
            <a:endParaRPr lang="en-US" sz="1800"/>
          </a:p>
          <a:p>
            <a:pPr>
              <a:buFont typeface="Arial" panose="020B0604020202020204"/>
              <a:buChar char="•"/>
            </a:pPr>
            <a:r>
              <a:rPr lang="en-US" sz="1800" b="1" err="1">
                <a:ea typeface="+mn-lt"/>
                <a:cs typeface="+mn-lt"/>
              </a:rPr>
              <a:t>FastAPI</a:t>
            </a:r>
            <a:r>
              <a:rPr lang="en-US" sz="1800" b="1" dirty="0">
                <a:ea typeface="+mn-lt"/>
                <a:cs typeface="+mn-lt"/>
              </a:rPr>
              <a:t> Link</a:t>
            </a:r>
            <a:r>
              <a:rPr lang="en-US" sz="1800" dirty="0">
                <a:ea typeface="+mn-lt"/>
                <a:cs typeface="+mn-lt"/>
              </a:rPr>
              <a:t> (real-time REST API) - </a:t>
            </a:r>
            <a:r>
              <a:rPr lang="en-US" sz="1800" dirty="0">
                <a:ea typeface="+mn-lt"/>
                <a:cs typeface="+mn-lt"/>
                <a:hlinkClick r:id="rId2"/>
              </a:rPr>
              <a:t>Ani-123-design/Repo_Fast_API_Hackathon</a:t>
            </a:r>
            <a:endParaRPr lang="en-US" sz="2000" dirty="0">
              <a:ea typeface="+mn-lt"/>
              <a:cs typeface="+mn-lt"/>
            </a:endParaRPr>
          </a:p>
          <a:p>
            <a:pPr>
              <a:buFont typeface="Arial" panose="020B0604020202020204"/>
              <a:buChar char="•"/>
            </a:pPr>
            <a:r>
              <a:rPr lang="en-US" sz="1800" b="1" dirty="0" err="1">
                <a:ea typeface="+mn-lt"/>
                <a:cs typeface="+mn-lt"/>
              </a:rPr>
              <a:t>Streamlit</a:t>
            </a:r>
            <a:r>
              <a:rPr lang="en-US" sz="1800" b="1" dirty="0">
                <a:ea typeface="+mn-lt"/>
                <a:cs typeface="+mn-lt"/>
              </a:rPr>
              <a:t> UI</a:t>
            </a:r>
            <a:r>
              <a:rPr lang="en-US" sz="1800" dirty="0">
                <a:ea typeface="+mn-lt"/>
                <a:cs typeface="+mn-lt"/>
              </a:rPr>
              <a:t> (interactive web application) -</a:t>
            </a:r>
            <a:r>
              <a:rPr lang="en-US" sz="1800" dirty="0">
                <a:ea typeface="+mn-lt"/>
                <a:cs typeface="+mn-lt"/>
                <a:hlinkClick r:id="rId3"/>
              </a:rPr>
              <a:t>Ani-123-design/hackathon_inceptez_Ds_25</a:t>
            </a:r>
            <a:endParaRPr lang="en-US" sz="2000">
              <a:ea typeface="+mn-lt"/>
              <a:cs typeface="+mn-lt"/>
            </a:endParaRPr>
          </a:p>
          <a:p>
            <a:pPr marL="0" indent="0">
              <a:buNone/>
            </a:pPr>
            <a:endParaRPr lang="en-US" sz="1800" dirty="0">
              <a:ea typeface="+mn-lt"/>
              <a:cs typeface="+mn-lt"/>
            </a:endParaRPr>
          </a:p>
          <a:p>
            <a:pPr marL="0" indent="0" algn="r">
              <a:buNone/>
            </a:pPr>
            <a:r>
              <a:rPr lang="en-US" sz="1800" dirty="0">
                <a:ea typeface="+mn-lt"/>
                <a:cs typeface="+mn-lt"/>
              </a:rPr>
              <a:t>R Anirudh Srinivas</a:t>
            </a:r>
            <a:endParaRPr lang="en-US" sz="1800" dirty="0">
              <a:ea typeface="+mn-lt"/>
              <a:cs typeface="+mn-lt"/>
            </a:endParaRPr>
          </a:p>
          <a:p>
            <a:pPr marL="0" indent="0">
              <a:buNone/>
            </a:pPr>
            <a:endParaRPr lang="en-US" dirty="0">
              <a:ea typeface="+mn-lt"/>
              <a:cs typeface="+mn-l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9172" y="1144769"/>
            <a:ext cx="3724217" cy="2896432"/>
          </a:xfrm>
        </p:spPr>
        <p:txBody>
          <a:bodyPr anchor="b">
            <a:normAutofit/>
          </a:bodyPr>
          <a:lstStyle/>
          <a:p>
            <a:pPr algn="l"/>
            <a:r>
              <a:rPr lang="en-US" sz="4000" dirty="0"/>
              <a:t>STREAMLIT APP - LOCAL</a:t>
            </a:r>
            <a:endParaRPr lang="en-US" sz="4000" dirty="0"/>
          </a:p>
        </p:txBody>
      </p:sp>
      <p:sp>
        <p:nvSpPr>
          <p:cNvPr id="22" name="Rectangle 2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359171" y="4177748"/>
            <a:ext cx="3706859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3" name="Picture 2" descr="A screenshot of a computer&#10;&#10;AI-generated content may be incorrect.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97230" y="216840"/>
            <a:ext cx="5255847" cy="2995322"/>
          </a:xfrm>
          <a:prstGeom prst="rect">
            <a:avLst/>
          </a:prstGeom>
        </p:spPr>
      </p:pic>
      <p:pic>
        <p:nvPicPr>
          <p:cNvPr id="8" name="Picture 7" descr="A screenshot of a computer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7230" y="3429525"/>
            <a:ext cx="5314464" cy="302741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5" name="Rectangle 34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1903615" y="221673"/>
            <a:ext cx="8384770" cy="1332634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03121" y="310343"/>
            <a:ext cx="7985759" cy="86882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4000"/>
              <a:t>STREAMLIT - GCP</a:t>
            </a:r>
            <a:endParaRPr lang="en-US" sz="4000"/>
          </a:p>
        </p:txBody>
      </p:sp>
      <p:pic>
        <p:nvPicPr>
          <p:cNvPr id="7" name="Content Placeholder 6" descr="A screenshot of a computer&#10;&#10;AI-generated content may be incorrect.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97318" y="1552087"/>
            <a:ext cx="4237056" cy="2514723"/>
          </a:xfrm>
          <a:prstGeom prst="rect">
            <a:avLst/>
          </a:prstGeom>
        </p:spPr>
      </p:pic>
      <p:pic>
        <p:nvPicPr>
          <p:cNvPr id="9" name="Picture 8" descr="A screenshot of a computer program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44307" y="1538690"/>
            <a:ext cx="5070232" cy="2539928"/>
          </a:xfrm>
          <a:prstGeom prst="rect">
            <a:avLst/>
          </a:prstGeom>
        </p:spPr>
      </p:pic>
      <p:pic>
        <p:nvPicPr>
          <p:cNvPr id="10" name="Picture 9" descr="A screenshot of a video game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91691" y="4253349"/>
            <a:ext cx="5705232" cy="2600916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43"/>
            <a:ext cx="10515600" cy="2057043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52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FastAPI - LOCAL</a:t>
            </a:r>
            <a:endParaRPr lang="en-US" sz="52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8" name="Content Placeholder 7" descr="A screenshot of a computer&#10;&#10;AI-generated content may be incorrect.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983185" y="1444627"/>
            <a:ext cx="9551553" cy="3188799"/>
          </a:xfrm>
          <a:prstGeom prst="rect">
            <a:avLst/>
          </a:prstGeom>
        </p:spPr>
      </p:pic>
      <p:pic>
        <p:nvPicPr>
          <p:cNvPr id="13" name="Picture 12" descr="A black and white horizontal line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0154" y="4866070"/>
            <a:ext cx="10218616" cy="183463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1141712"/>
            <a:ext cx="8029572" cy="1061161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000"/>
              <a:t>FastAPI - GCP</a:t>
            </a:r>
            <a:endParaRPr lang="en-US" sz="4000"/>
          </a:p>
        </p:txBody>
      </p:sp>
      <p:cxnSp>
        <p:nvCxnSpPr>
          <p:cNvPr id="19" name="Straight Connector 18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cxnSpLocks noGrp="1" noRot="1" noChangeAspect="1" noMove="1" noResize="1" noEditPoints="1" noAdjustHandles="1" noChangeArrowheads="1" noChangeShapeType="1"/>
          </p:cNvCxnSpPr>
          <p:nvPr/>
        </p:nvCxnSpPr>
        <p:spPr>
          <a:xfrm>
            <a:off x="888897" y="5231580"/>
            <a:ext cx="10459156" cy="0"/>
          </a:xfrm>
          <a:prstGeom prst="line">
            <a:avLst/>
          </a:prstGeom>
          <a:ln w="12700">
            <a:solidFill>
              <a:schemeClr val="bg2">
                <a:lumMod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Content Placeholder 7" descr="A screenshot of a computer&#10;&#10;AI-generated content may be incorrect.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625231" y="1732686"/>
            <a:ext cx="4689230" cy="3101139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24770" y="1732454"/>
            <a:ext cx="5627077" cy="3109784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4039" y="5049108"/>
            <a:ext cx="8069385" cy="15054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SUBMISSION</a:t>
            </a:r>
            <a:endParaRPr lang="en-US"/>
          </a:p>
        </p:txBody>
      </p:sp>
      <p:pic>
        <p:nvPicPr>
          <p:cNvPr id="4" name="Content Placeholder 3" descr="A screenshot of a game&#10;&#10;AI-generated content may be incorrect.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38200" y="1953675"/>
            <a:ext cx="10515600" cy="397800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IN" altLang="en-US"/>
              <a:t>Future Scope</a:t>
            </a:r>
            <a:endParaRPr lang="en-IN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Explore additional classification algorithms</a:t>
            </a:r>
            <a:r>
              <a:rPr lang="en-IN" altLang="en-US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 like SVM</a:t>
            </a:r>
            <a:endParaRPr lang="en-US" dirty="0"/>
          </a:p>
          <a:p>
            <a:pPr marL="342900" indent="-342900">
              <a:lnSpc>
                <a:spcPts val="2430"/>
              </a:lnSpc>
              <a:buSzPct val="100000"/>
              <a:buChar char="•"/>
            </a:pPr>
            <a:r>
              <a:rPr lang="en-US" dirty="0">
                <a:solidFill>
                  <a:srgbClr val="CBD5E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  <a:sym typeface="+mn-ea"/>
              </a:rPr>
              <a:t>Consider ensemble methods and voting classifier</a:t>
            </a:r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5048" y="2673476"/>
            <a:ext cx="10515600" cy="5797184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r>
              <a:rPr lang="en-GB" sz="6000" dirty="0"/>
              <a:t>THANK YOU!!!!!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1538</Words>
  <Application>WPS Presentation</Application>
  <PresentationFormat>Widescreen</PresentationFormat>
  <Paragraphs>43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24" baseType="lpstr">
      <vt:lpstr>Arial</vt:lpstr>
      <vt:lpstr>SimSun</vt:lpstr>
      <vt:lpstr>Wingdings</vt:lpstr>
      <vt:lpstr>Book Antiqua</vt:lpstr>
      <vt:lpstr>Arial</vt:lpstr>
      <vt:lpstr>Calibri</vt:lpstr>
      <vt:lpstr>Aptos Display</vt:lpstr>
      <vt:lpstr>Segoe UI Variable Display</vt:lpstr>
      <vt:lpstr>Aptos</vt:lpstr>
      <vt:lpstr>Segoe UI</vt:lpstr>
      <vt:lpstr>Microsoft YaHei</vt:lpstr>
      <vt:lpstr>Arial Unicode MS</vt:lpstr>
      <vt:lpstr>Arial</vt:lpstr>
      <vt:lpstr>Arial</vt:lpstr>
      <vt:lpstr>office theme</vt:lpstr>
      <vt:lpstr>PowerPoint 演示文稿</vt:lpstr>
      <vt:lpstr>                                 HR Analytics Hackathon</vt:lpstr>
      <vt:lpstr>STREAMLIT APP - LOCAL</vt:lpstr>
      <vt:lpstr>STREAMLIT - GCP</vt:lpstr>
      <vt:lpstr>FastAPI - LOCAL</vt:lpstr>
      <vt:lpstr>FastAPI - GCP</vt:lpstr>
      <vt:lpstr>SUBMISSION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aniru</cp:lastModifiedBy>
  <cp:revision>223</cp:revision>
  <dcterms:created xsi:type="dcterms:W3CDTF">2026-01-04T08:20:00Z</dcterms:created>
  <dcterms:modified xsi:type="dcterms:W3CDTF">2026-01-04T12:42:57Z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E97C1D1828B8463CBB75E243D077F5D6_13</vt:lpwstr>
  </property>
  <property fmtid="{D5CDD505-2E9C-101B-9397-08002B2CF9AE}" pid="3" name="KSOProductBuildVer">
    <vt:lpwstr>1033-12.2.0.23196</vt:lpwstr>
  </property>
</Properties>
</file>