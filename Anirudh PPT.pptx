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56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33A213-5165-0E80-7F4B-967416B482EE}" v="251" dt="2026-01-04T11:22:32.457"/>
    <p1510:client id="{A7A32840-963E-4C81-A90F-119BDE9886FC}" v="329" dt="2026-01-04T08:45:57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i-123-design/Repo_Fast_API_Hackathon" TargetMode="External"/><Relationship Id="rId2" Type="http://schemas.openxmlformats.org/officeDocument/2006/relationships/hyperlink" Target="https://github.com/Ani-123-design/GoogleColabNotebook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Ani-123-design/hackathon_inceptez_Ds_25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F0FD2-311F-0C57-42AB-DBE3C7072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67" y="72640"/>
            <a:ext cx="10515600" cy="992041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                                HR Analytics Hackathon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AAF36-8F51-24AD-9DCC-2CAB42F3F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3626"/>
            <a:ext cx="10515600" cy="511333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Model Performance Comparison (F1 Score)</a:t>
            </a:r>
          </a:p>
          <a:p>
            <a:r>
              <a:rPr lang="en-US" sz="1200" b="1" dirty="0">
                <a:latin typeface="Book Antiqua"/>
                <a:ea typeface="+mn-lt"/>
                <a:cs typeface="+mn-lt"/>
              </a:rPr>
              <a:t>Logistic Regression(Tuned with best parameter)</a:t>
            </a:r>
            <a:r>
              <a:rPr lang="en-US" sz="1200" dirty="0">
                <a:latin typeface="Book Antiqua"/>
                <a:ea typeface="+mn-lt"/>
                <a:cs typeface="+mn-lt"/>
              </a:rPr>
              <a:t>: F1 = </a:t>
            </a:r>
            <a:r>
              <a:rPr lang="en-US" sz="1200" b="1" dirty="0">
                <a:latin typeface="Book Antiqua"/>
                <a:ea typeface="+mn-lt"/>
                <a:cs typeface="+mn-lt"/>
              </a:rPr>
              <a:t>0.37</a:t>
            </a:r>
            <a:endParaRPr lang="en-US" sz="1200" dirty="0">
              <a:latin typeface="Book Antiqua"/>
              <a:ea typeface="+mn-lt"/>
              <a:cs typeface="+mn-lt"/>
            </a:endParaRPr>
          </a:p>
          <a:p>
            <a:r>
              <a:rPr lang="en-US" sz="1200" b="1" dirty="0">
                <a:latin typeface="Book Antiqua"/>
                <a:ea typeface="+mn-lt"/>
                <a:cs typeface="+mn-lt"/>
              </a:rPr>
              <a:t>Decision Tree(Tuned with best parameter)</a:t>
            </a:r>
            <a:r>
              <a:rPr lang="en-US" sz="1200" dirty="0">
                <a:latin typeface="Book Antiqua"/>
                <a:ea typeface="+mn-lt"/>
                <a:cs typeface="+mn-lt"/>
              </a:rPr>
              <a:t>: F1 = </a:t>
            </a:r>
            <a:r>
              <a:rPr lang="en-US" sz="1200" b="1" dirty="0">
                <a:latin typeface="Book Antiqua"/>
                <a:ea typeface="+mn-lt"/>
                <a:cs typeface="+mn-lt"/>
              </a:rPr>
              <a:t>0.42</a:t>
            </a:r>
            <a:endParaRPr lang="en-US" sz="1200" dirty="0">
              <a:latin typeface="Book Antiqua"/>
              <a:ea typeface="+mn-lt"/>
              <a:cs typeface="+mn-lt"/>
            </a:endParaRPr>
          </a:p>
          <a:p>
            <a:r>
              <a:rPr lang="en-US" sz="1200" b="1" dirty="0">
                <a:latin typeface="Book Antiqua"/>
                <a:ea typeface="+mn-lt"/>
                <a:cs typeface="+mn-lt"/>
              </a:rPr>
              <a:t>Random Forest (Tuned with best parameter)</a:t>
            </a:r>
            <a:r>
              <a:rPr lang="en-US" sz="1200" dirty="0">
                <a:latin typeface="Book Antiqua"/>
                <a:ea typeface="+mn-lt"/>
                <a:cs typeface="+mn-lt"/>
              </a:rPr>
              <a:t>: F1 =</a:t>
            </a:r>
            <a:r>
              <a:rPr lang="en-US" sz="1200" b="1" dirty="0">
                <a:latin typeface="Book Antiqua"/>
                <a:ea typeface="+mn-lt"/>
                <a:cs typeface="+mn-lt"/>
              </a:rPr>
              <a:t>0.47</a:t>
            </a:r>
            <a:endParaRPr lang="en-US" sz="1200" dirty="0">
              <a:latin typeface="Book Antiqua"/>
              <a:ea typeface="+mn-lt"/>
              <a:cs typeface="+mn-lt"/>
            </a:endParaRPr>
          </a:p>
          <a:p>
            <a:r>
              <a:rPr lang="en-US" sz="1200" b="1" dirty="0">
                <a:latin typeface="Book Antiqua"/>
                <a:ea typeface="+mn-lt"/>
                <a:cs typeface="+mn-lt"/>
              </a:rPr>
              <a:t>Ada Boosting = 0.24 - Not giving best result with tuning also</a:t>
            </a:r>
          </a:p>
          <a:p>
            <a:r>
              <a:rPr lang="en-US" sz="1200" b="1" dirty="0">
                <a:latin typeface="Book Antiqua"/>
                <a:ea typeface="+mn-lt"/>
                <a:cs typeface="+mn-lt"/>
              </a:rPr>
              <a:t>Gradient Boosting (Tuned with best parameter )</a:t>
            </a:r>
            <a:r>
              <a:rPr lang="en-US" sz="1200" dirty="0">
                <a:latin typeface="Book Antiqua"/>
                <a:ea typeface="+mn-lt"/>
                <a:cs typeface="+mn-lt"/>
              </a:rPr>
              <a:t>: F1 = 0.49</a:t>
            </a:r>
          </a:p>
          <a:p>
            <a:r>
              <a:rPr lang="en-US" sz="1200" b="1" dirty="0">
                <a:latin typeface="Book Antiqua"/>
                <a:ea typeface="+mn-lt"/>
                <a:cs typeface="+mn-lt"/>
              </a:rPr>
              <a:t>Gradient Boosting (Tuned with best parameter and probability threshold )</a:t>
            </a:r>
            <a:r>
              <a:rPr lang="en-US" sz="1200" dirty="0">
                <a:latin typeface="Book Antiqua"/>
                <a:ea typeface="+mn-lt"/>
                <a:cs typeface="+mn-lt"/>
              </a:rPr>
              <a:t>: F1 = 0.51</a:t>
            </a:r>
          </a:p>
          <a:p>
            <a:r>
              <a:rPr lang="en-US" sz="1200" b="1" dirty="0" err="1">
                <a:latin typeface="Book Antiqua"/>
                <a:ea typeface="+mn-lt"/>
                <a:cs typeface="+mn-lt"/>
              </a:rPr>
              <a:t>XGBoost</a:t>
            </a:r>
            <a:r>
              <a:rPr lang="en-US" sz="1200" b="1" dirty="0">
                <a:latin typeface="Book Antiqua"/>
                <a:ea typeface="+mn-lt"/>
                <a:cs typeface="+mn-lt"/>
              </a:rPr>
              <a:t> (Tuned + best Threshold)</a:t>
            </a:r>
            <a:r>
              <a:rPr lang="en-US" sz="1200" dirty="0">
                <a:latin typeface="Book Antiqua"/>
                <a:ea typeface="+mn-lt"/>
                <a:cs typeface="+mn-lt"/>
              </a:rPr>
              <a:t>: </a:t>
            </a:r>
            <a:r>
              <a:rPr lang="en-US" sz="1200" b="1" dirty="0">
                <a:latin typeface="Book Antiqua"/>
                <a:ea typeface="+mn-lt"/>
                <a:cs typeface="+mn-lt"/>
              </a:rPr>
              <a:t>F1 = </a:t>
            </a:r>
            <a:r>
              <a:rPr lang="en-US" sz="1200" dirty="0">
                <a:latin typeface="Book Antiqua"/>
                <a:ea typeface="+mn-lt"/>
                <a:cs typeface="+mn-lt"/>
              </a:rPr>
              <a:t>0.49</a:t>
            </a:r>
          </a:p>
          <a:p>
            <a:pPr marL="0" indent="0">
              <a:buNone/>
            </a:pPr>
            <a:r>
              <a:rPr lang="en-US" sz="1400" b="1" dirty="0">
                <a:ea typeface="+mn-lt"/>
                <a:cs typeface="+mn-lt"/>
              </a:rPr>
              <a:t>Notebook Link: </a:t>
            </a:r>
            <a:r>
              <a:rPr lang="en-US" sz="1400" dirty="0">
                <a:ea typeface="+mn-lt"/>
                <a:cs typeface="+mn-lt"/>
                <a:hlinkClick r:id="rId2"/>
              </a:rPr>
              <a:t>Ani-123-design/GoogleColabNotebook</a:t>
            </a:r>
            <a:endParaRPr lang="en-US" sz="1400" b="1" dirty="0"/>
          </a:p>
          <a:p>
            <a:pPr>
              <a:buNone/>
            </a:pPr>
            <a:r>
              <a:rPr lang="en-US" sz="1800" b="1" dirty="0">
                <a:ea typeface="+mn-lt"/>
                <a:cs typeface="+mn-lt"/>
              </a:rPr>
              <a:t>Gradient Boosting achieved the highest F1 score among all evaluated models</a:t>
            </a:r>
            <a:endParaRPr lang="en-US" sz="1800" dirty="0">
              <a:ea typeface="+mn-lt"/>
              <a:cs typeface="+mn-lt"/>
            </a:endParaRPr>
          </a:p>
          <a:p>
            <a:pPr>
              <a:buNone/>
            </a:pPr>
            <a:r>
              <a:rPr lang="en-US" sz="1800" dirty="0">
                <a:ea typeface="+mn-lt"/>
                <a:cs typeface="+mn-lt"/>
              </a:rPr>
              <a:t>Final </a:t>
            </a:r>
            <a:r>
              <a:rPr lang="en-US" sz="1800" dirty="0" err="1">
                <a:ea typeface="+mn-lt"/>
                <a:cs typeface="+mn-lt"/>
              </a:rPr>
              <a:t>GradientBoost</a:t>
            </a:r>
            <a:r>
              <a:rPr lang="en-US" sz="1800" dirty="0">
                <a:ea typeface="+mn-lt"/>
                <a:cs typeface="+mn-lt"/>
              </a:rPr>
              <a:t> model was </a:t>
            </a:r>
            <a:r>
              <a:rPr lang="en-US" sz="1800" b="1" dirty="0">
                <a:ea typeface="+mn-lt"/>
                <a:cs typeface="+mn-lt"/>
              </a:rPr>
              <a:t>pickled and deployed</a:t>
            </a:r>
            <a:r>
              <a:rPr lang="en-US" sz="1800" dirty="0">
                <a:ea typeface="+mn-lt"/>
                <a:cs typeface="+mn-lt"/>
              </a:rPr>
              <a:t> via:</a:t>
            </a:r>
            <a:endParaRPr lang="en-US" sz="1800"/>
          </a:p>
          <a:p>
            <a:pPr>
              <a:buFont typeface="Arial"/>
              <a:buChar char="•"/>
            </a:pPr>
            <a:r>
              <a:rPr lang="en-US" sz="1800" b="1" err="1">
                <a:ea typeface="+mn-lt"/>
                <a:cs typeface="+mn-lt"/>
              </a:rPr>
              <a:t>FastAPI</a:t>
            </a:r>
            <a:r>
              <a:rPr lang="en-US" sz="1800" b="1" dirty="0">
                <a:ea typeface="+mn-lt"/>
                <a:cs typeface="+mn-lt"/>
              </a:rPr>
              <a:t> Link</a:t>
            </a:r>
            <a:r>
              <a:rPr lang="en-US" sz="1800" dirty="0">
                <a:ea typeface="+mn-lt"/>
                <a:cs typeface="+mn-lt"/>
              </a:rPr>
              <a:t> (real-time REST API) - </a:t>
            </a:r>
            <a:r>
              <a:rPr lang="en-US" sz="1800" dirty="0">
                <a:ea typeface="+mn-lt"/>
                <a:cs typeface="+mn-lt"/>
                <a:hlinkClick r:id="rId3"/>
              </a:rPr>
              <a:t>Ani-123-design/Repo_Fast_API_Hackathon</a:t>
            </a:r>
            <a:endParaRPr lang="en-US" sz="20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800" b="1" dirty="0" err="1">
                <a:ea typeface="+mn-lt"/>
                <a:cs typeface="+mn-lt"/>
              </a:rPr>
              <a:t>Streamlit</a:t>
            </a:r>
            <a:r>
              <a:rPr lang="en-US" sz="1800" b="1" dirty="0">
                <a:ea typeface="+mn-lt"/>
                <a:cs typeface="+mn-lt"/>
              </a:rPr>
              <a:t> UI</a:t>
            </a:r>
            <a:r>
              <a:rPr lang="en-US" sz="1800" dirty="0">
                <a:ea typeface="+mn-lt"/>
                <a:cs typeface="+mn-lt"/>
              </a:rPr>
              <a:t> (interactive web application) -</a:t>
            </a:r>
            <a:r>
              <a:rPr lang="en-US" sz="1800" dirty="0">
                <a:ea typeface="+mn-lt"/>
                <a:cs typeface="+mn-lt"/>
                <a:hlinkClick r:id="rId4"/>
              </a:rPr>
              <a:t>Ani-123-design/hackathon_inceptez_Ds_25</a:t>
            </a:r>
            <a:endParaRPr lang="en-US" sz="2000">
              <a:ea typeface="+mn-lt"/>
              <a:cs typeface="+mn-lt"/>
            </a:endParaRPr>
          </a:p>
          <a:p>
            <a:pPr marL="0" indent="0">
              <a:buNone/>
            </a:pPr>
            <a:endParaRPr lang="en-US" sz="1800" dirty="0">
              <a:ea typeface="+mn-lt"/>
              <a:cs typeface="+mn-lt"/>
            </a:endParaRPr>
          </a:p>
          <a:p>
            <a:pPr marL="0" indent="0" algn="r">
              <a:buNone/>
            </a:pPr>
            <a:r>
              <a:rPr lang="en-US" sz="1800" dirty="0">
                <a:ea typeface="+mn-lt"/>
                <a:cs typeface="+mn-lt"/>
              </a:rPr>
              <a:t>R Anirudh Srinivas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35745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8F923FF-DD0C-4FD3-A1B4-68DFA511C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9172" y="1144769"/>
            <a:ext cx="3724217" cy="2896432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STREAMLIT APP - LOCAL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EF550F-47CE-4FB2-9DAC-12AD835C8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171" y="4177748"/>
            <a:ext cx="3706859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D80A29-A939-A2EE-93F8-DECC09872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7230" y="216840"/>
            <a:ext cx="5255847" cy="2995322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D4D0FB-2ABC-B4A1-7659-D7EC63ECA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230" y="3429525"/>
            <a:ext cx="5314464" cy="302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96646FC9-C66D-4EC7-8310-0DD4ACC49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CE39E0-8723-8169-29FE-AB9D076F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STREAMLIT - GCP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69EB00-191E-33DB-4C30-3A058FB207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7318" y="1552087"/>
            <a:ext cx="4237056" cy="2514723"/>
          </a:xfrm>
          <a:prstGeom prst="rect">
            <a:avLst/>
          </a:prstGeom>
        </p:spPr>
      </p:pic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BDE851A-A7E2-0397-1714-849FBF1F3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307" y="1538690"/>
            <a:ext cx="5070232" cy="2539928"/>
          </a:xfrm>
          <a:prstGeom prst="rect">
            <a:avLst/>
          </a:prstGeom>
        </p:spPr>
      </p:pic>
      <p:pic>
        <p:nvPicPr>
          <p:cNvPr id="10" name="Picture 9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E1DF9870-2FCA-B7D6-9117-E84F44E3A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1691" y="4253349"/>
            <a:ext cx="5705232" cy="260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43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7B37EA-DFAB-ACE4-2E16-C1DD04B1C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3"/>
            <a:ext cx="10515600" cy="20570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FastAPI - LOCAL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024B05-BDAA-D6E8-FFC6-2267DEDC5E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3185" y="1444627"/>
            <a:ext cx="9551553" cy="3188799"/>
          </a:xfrm>
          <a:prstGeom prst="rect">
            <a:avLst/>
          </a:prstGeom>
        </p:spPr>
      </p:pic>
      <p:pic>
        <p:nvPicPr>
          <p:cNvPr id="13" name="Picture 12" descr="A black and white horizontal lines&#10;&#10;AI-generated content may be incorrect.">
            <a:extLst>
              <a:ext uri="{FF2B5EF4-FFF2-40B4-BE49-F238E27FC236}">
                <a16:creationId xmlns:a16="http://schemas.microsoft.com/office/drawing/2014/main" id="{27E41F58-DC35-681C-770A-B2711FF84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54" y="4866070"/>
            <a:ext cx="10218616" cy="183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902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8D626-4A03-A1B7-5CDE-4706AE593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41712"/>
            <a:ext cx="8029572" cy="10611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FastAPI - GCP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2712F8-36FA-35DF-0CE8-4098D9332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F9469B9-6468-5B6A-E832-8D4590388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897" y="5231580"/>
            <a:ext cx="10459156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849BB6-0AD0-8ADB-13A9-7FCB8CCAF6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5231" y="1732686"/>
            <a:ext cx="4689230" cy="3101139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403C593-64F1-6731-EC28-B083203AC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770" y="1732454"/>
            <a:ext cx="5627077" cy="3109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39AF65-B279-B9D4-43D1-BDB41C319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039" y="5049108"/>
            <a:ext cx="8069385" cy="150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440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E9AE6-1D8A-4E3E-12DD-21DFE613C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048" y="2673476"/>
            <a:ext cx="10515600" cy="57971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GB" sz="6000" dirty="0"/>
              <a:t>THANK YOU!!!!!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285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                                 HR Analytics Hackathon </vt:lpstr>
      <vt:lpstr>STREAMLIT APP - LOCAL</vt:lpstr>
      <vt:lpstr>STREAMLIT - GCP</vt:lpstr>
      <vt:lpstr>FastAPI - LOCAL</vt:lpstr>
      <vt:lpstr>FastAPI - GCP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210</cp:revision>
  <dcterms:created xsi:type="dcterms:W3CDTF">2026-01-04T08:20:50Z</dcterms:created>
  <dcterms:modified xsi:type="dcterms:W3CDTF">2026-01-04T11:22:40Z</dcterms:modified>
</cp:coreProperties>
</file>